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73052"/>
          </a:solidFill>
          <a:ln>
            <a:solidFill>
              <a:srgbClr val="17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480560"/>
            <a:ext cx="3017520" cy="3017520"/>
          </a:xfrm>
          <a:prstGeom prst="ellipse">
            <a:avLst/>
          </a:prstGeom>
          <a:solidFill>
            <a:srgbClr val="14436F"/>
          </a:solidFill>
          <a:ln>
            <a:solidFill>
              <a:srgbClr val="144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98079" y="1417320"/>
            <a:ext cx="3749039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18120" y="1783080"/>
            <a:ext cx="3108960" cy="8686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E1F39"/>
                </a:solidFill>
                <a:latin typeface="Aptos"/>
              </a:defRPr>
            </a:pPr>
            <a:r>
              <a:t>WORK REQUEST</a:t>
            </a:r>
          </a:p>
          <a:p>
            <a:pPr algn="ctr">
              <a:spcAft>
                <a:spcPts val="500"/>
              </a:spcAft>
              <a:defRPr sz="2500" b="1">
                <a:solidFill>
                  <a:srgbClr val="0E1F39"/>
                </a:solidFill>
                <a:latin typeface="Aptos"/>
              </a:defRPr>
            </a:pPr>
            <a:r>
              <a:t>TRACKER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112" y="2926080"/>
            <a:ext cx="932688" cy="868680"/>
          </a:xfrm>
          <a:prstGeom prst="roundRect">
            <a:avLst/>
          </a:prstGeom>
          <a:solidFill>
            <a:srgbClr val="F3F7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83296" y="3044952"/>
            <a:ext cx="256032" cy="25603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3319272"/>
            <a:ext cx="74980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2" y="3566160"/>
            <a:ext cx="841248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700" b="1">
                <a:solidFill>
                  <a:srgbClr val="63738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926080"/>
            <a:ext cx="932688" cy="868680"/>
          </a:xfrm>
          <a:prstGeom prst="roundRect">
            <a:avLst/>
          </a:prstGeom>
          <a:solidFill>
            <a:srgbClr val="F3F7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53144" y="3044952"/>
            <a:ext cx="256032" cy="25603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3319272"/>
            <a:ext cx="74980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566160"/>
            <a:ext cx="841248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700" b="1">
                <a:solidFill>
                  <a:srgbClr val="63738B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93808" y="2926080"/>
            <a:ext cx="932688" cy="868680"/>
          </a:xfrm>
          <a:prstGeom prst="roundRect">
            <a:avLst/>
          </a:prstGeom>
          <a:solidFill>
            <a:srgbClr val="F3F7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22992" y="3044952"/>
            <a:ext cx="256032" cy="25603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85248" y="3319272"/>
            <a:ext cx="74980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3566160"/>
            <a:ext cx="841248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700" b="1">
                <a:solidFill>
                  <a:srgbClr val="63738B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804672"/>
            <a:ext cx="6035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38BDF8"/>
                </a:solidFill>
                <a:latin typeface="Aptos"/>
              </a:defRPr>
            </a:pPr>
            <a:r>
              <a:t>PROJECT HANDOVER &amp; SETUP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17320"/>
            <a:ext cx="640080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FlexGCC Work Request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24912"/>
            <a:ext cx="61264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CDDCF0"/>
                </a:solidFill>
                <a:latin typeface="Aptos"/>
              </a:defRPr>
            </a:pPr>
            <a:r>
              <a:t>React.js  •  ASP.NET Core Web API  •  SQL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83280"/>
            <a:ext cx="1005840" cy="64008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594360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Frontend repository + Backend API repository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Database setup • Run instructions •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7E0"/>
                </a:solidFill>
                <a:latin typeface="Aptos"/>
              </a:defRPr>
            </a:pPr>
            <a:r>
              <a:t>Prepared for project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230368"/>
            <a:ext cx="3474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E1F39"/>
                </a:solidFill>
                <a:latin typeface="Aptos"/>
              </a:defRPr>
            </a:pPr>
            <a:r>
              <a:t>CONTACT  •  7674960929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01  |  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What the application does and how its parts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764792"/>
            <a:ext cx="438912" cy="438912"/>
          </a:xfrm>
          <a:prstGeom prst="round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739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64792"/>
            <a:ext cx="2514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3026664" cy="9601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User interface for creating, viewing, searching, filtering and updating work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53712" y="1764792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739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64792"/>
            <a:ext cx="2514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.NET Web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77440"/>
            <a:ext cx="3026664" cy="9601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Receives HTTP requests, validates data, applies business logic and returns 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57031" y="176479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7739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764792"/>
            <a:ext cx="2514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SQL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77440"/>
            <a:ext cx="3026664" cy="9601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Stores work requests and notes with keys, constraints and indexes.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542032"/>
            <a:ext cx="274320" cy="0"/>
          </a:xfrm>
          <a:prstGeom prst="line">
            <a:avLst/>
          </a:prstGeom>
          <a:ln w="31750">
            <a:solidFill>
              <a:srgbClr val="24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2542032"/>
            <a:ext cx="274320" cy="0"/>
          </a:xfrm>
          <a:prstGeom prst="line">
            <a:avLst/>
          </a:prstGeom>
          <a:ln w="31750">
            <a:solidFill>
              <a:srgbClr val="24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37560" y="2148840"/>
            <a:ext cx="10058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63738B"/>
                </a:solidFill>
                <a:latin typeface="Aptos"/>
              </a:defRPr>
            </a:pPr>
            <a:r>
              <a:t>HTTP /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148840"/>
            <a:ext cx="1051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63738B"/>
                </a:solidFill>
                <a:latin typeface="Aptos"/>
              </a:defRPr>
            </a:pPr>
            <a:r>
              <a:t>EF Core /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2011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0E1F39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56285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4480560"/>
            <a:ext cx="102870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Create and edit work requests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892040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809744"/>
            <a:ext cx="102870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Set priority, status and due date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221224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138928"/>
            <a:ext cx="102870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Search and filter requests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5550408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5468112"/>
            <a:ext cx="102870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View request details and add notes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879592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5797296"/>
            <a:ext cx="1028700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Light / Dark theme and dashboard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02  | 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Keep frontend and backend in separate GitHub repositories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343400"/>
          </a:xfrm>
          <a:prstGeom prst="roundRect">
            <a:avLst/>
          </a:prstGeom>
          <a:solidFill>
            <a:srgbClr val="FAFC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7BFF"/>
                </a:solidFill>
                <a:latin typeface="Aptos"/>
              </a:defRPr>
            </a:pPr>
            <a:r>
              <a:t>FRONTEND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3891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0E1F39"/>
                </a:solidFill>
                <a:latin typeface="Aptos"/>
              </a:defRPr>
            </a:pPr>
            <a:r>
              <a:t>FlexGCCWorkTracker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82549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src/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246120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163824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components and styles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666744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584448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services/workRequestApi.js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087368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4005072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package.json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507992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425696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5212080" cy="4343400"/>
          </a:xfrm>
          <a:prstGeom prst="roundRect">
            <a:avLst/>
          </a:prstGeom>
          <a:solidFill>
            <a:srgbClr val="FAFC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828800"/>
            <a:ext cx="4389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0B981"/>
                </a:solidFill>
                <a:latin typeface="Aptos"/>
              </a:defRPr>
            </a:pPr>
            <a:r>
              <a:t>BACKEND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40280"/>
            <a:ext cx="44805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0E1F39"/>
                </a:solidFill>
                <a:latin typeface="Aptos"/>
              </a:defRPr>
            </a:pPr>
            <a:r>
              <a:t>FlexGCCWorkTracker-API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825496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2743200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Controllers/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46120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3163824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Models/ and DTOs/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666744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584448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Services/ and Data/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08736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4005072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Program.cs + .csproj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507992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425696"/>
            <a:ext cx="4160520" cy="4206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4344B"/>
                </a:solidFill>
                <a:latin typeface="Aptos"/>
              </a:defRPr>
            </a:pPr>
            <a:r>
              <a:t>Database.sql + README.md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080760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738B"/>
                </a:solidFill>
                <a:latin typeface="Aptos"/>
              </a:defRPr>
            </a:pPr>
            <a:r>
              <a:t>Note: actual folder names may differ. Keep each repository's .git folder and history separate.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03  |  Get the frontend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Download or clone the React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764792"/>
            <a:ext cx="438912" cy="438912"/>
          </a:xfrm>
          <a:prstGeom prst="round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023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GitHub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4535424" cy="5943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https://github.com/Durgamanikanta143/FlexGCCWorkTracker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206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Option A  •  Clone with Git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5760720" cy="1508760"/>
          </a:xfrm>
          <a:prstGeom prst="roundRect">
            <a:avLst/>
          </a:prstGeom>
          <a:solidFill>
            <a:srgbClr val="0E1F39"/>
          </a:solidFill>
          <a:ln>
            <a:solidFill>
              <a:srgbClr val="0E1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5431536" cy="1289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git clone https://github.com/Durgamanikanta143/FlexGCCWorkTracker.git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cd FlexGCCWorkTracker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npm install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npm run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29000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Option B  •  Download ZIP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396849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3886200"/>
            <a:ext cx="3886200" cy="3886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Open the repository URL.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435711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4274820"/>
            <a:ext cx="3886200" cy="3886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Click the green Code button.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474573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4663440"/>
            <a:ext cx="3886200" cy="3886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Choose Download ZIP and extract it.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5134356"/>
            <a:ext cx="118872" cy="11887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5052060"/>
            <a:ext cx="3886200" cy="3886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Open the folder in VS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738B"/>
                </a:solidFill>
                <a:latin typeface="Aptos"/>
              </a:defRPr>
            </a:pPr>
            <a:r>
              <a:t>Frontend run steps assume Node.js/npm are installed and the API URL is configured for your environment.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04  |  Get the backend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Clone the ASP.NET Core API source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764792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GitHub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4626864" cy="5943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https://github.com/Durgamanikanta143/FlexGCCWorkTracker-API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206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Clone and 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5806440" cy="1508760"/>
          </a:xfrm>
          <a:prstGeom prst="roundRect">
            <a:avLst/>
          </a:prstGeom>
          <a:solidFill>
            <a:srgbClr val="0E1F39"/>
          </a:solidFill>
          <a:ln>
            <a:solidFill>
              <a:srgbClr val="0E1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8"/>
            <a:ext cx="5477255" cy="1289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git clone https://github.com/Durgamanikanta143/FlexGCCWorkTracker-API.git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cd FlexGCCWorkTracker-API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dotnet restore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E2EEFC"/>
                </a:solidFill>
                <a:latin typeface="Cascadia Code"/>
              </a:defRPr>
            </a:pPr>
            <a:r>
              <a:t>dotnet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931920"/>
            <a:ext cx="3977639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4344B"/>
                </a:solidFill>
                <a:latin typeface="Aptos"/>
              </a:defRPr>
            </a:pPr>
            <a:r>
              <a:t>Open the .csproj or solution in Visual Studio if you prefer the IDE. Use the API URL shown by the terminal.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5212080"/>
            <a:ext cx="4114800" cy="566928"/>
          </a:xfrm>
          <a:prstGeom prst="roundRect">
            <a:avLst/>
          </a:prstGeom>
          <a:solidFill>
            <a:srgbClr val="E4F0FF"/>
          </a:solidFill>
          <a:ln>
            <a:solidFill>
              <a:srgbClr val="E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5340096"/>
            <a:ext cx="37490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E1F39"/>
                </a:solidFill>
                <a:latin typeface="Aptos"/>
              </a:defRPr>
            </a:pPr>
            <a:r>
              <a:t>Swagger is available only if enabled in the API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05  |  Database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Use the SQL script to create the database and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45920"/>
            <a:ext cx="530352" cy="53035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32004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Locate Database.sql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649224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Place the script in the backend repository root.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79191"/>
            <a:ext cx="530352" cy="53035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1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79191"/>
            <a:ext cx="32004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Open SQL Server Management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9191"/>
            <a:ext cx="649224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Connect to your SQL Server instance.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712463"/>
            <a:ext cx="530352" cy="530352"/>
          </a:xfrm>
          <a:prstGeom prst="ellipse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3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12463"/>
            <a:ext cx="32004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Run the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12463"/>
            <a:ext cx="649224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Execute Database.sql to create FlexGCCWorkTracker and its tables.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745736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791455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45736"/>
            <a:ext cx="32004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Configure the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45736"/>
            <a:ext cx="649224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Set your own connection string securely; do not commit passwords.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806440"/>
            <a:ext cx="10287000" cy="438912"/>
          </a:xfrm>
          <a:prstGeom prst="roundRect">
            <a:avLst/>
          </a:prstGeom>
          <a:solidFill>
            <a:srgbClr val="FFF4E0"/>
          </a:solidFill>
          <a:ln>
            <a:solidFill>
              <a:srgbClr val="FF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5888736"/>
            <a:ext cx="9875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824F00"/>
                </a:solidFill>
                <a:latin typeface="Aptos"/>
              </a:defRPr>
            </a:pPr>
            <a:r>
              <a:t>Security: never publish real SQL passwords, tokens, or production connection strings.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06  |  API endpoint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Confirm these routes against the actual WorkRequestsController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521207"/>
          </a:xfrm>
          <a:prstGeom prst="roundRect">
            <a:avLst/>
          </a:prstGeom>
          <a:solidFill>
            <a:srgbClr val="FAFC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91440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0992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09928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List work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58568"/>
            <a:ext cx="1074420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350008"/>
            <a:ext cx="91440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68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68296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68296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Create a work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16936"/>
            <a:ext cx="10744200" cy="521207"/>
          </a:xfrm>
          <a:prstGeom prst="roundRect">
            <a:avLst/>
          </a:prstGeom>
          <a:solidFill>
            <a:srgbClr val="FAFC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008376"/>
            <a:ext cx="914400" cy="320040"/>
          </a:xfrm>
          <a:prstGeom prst="round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2666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026664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026664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Update a request, if 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75304"/>
            <a:ext cx="1074420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3666744"/>
            <a:ext cx="914400" cy="320040"/>
          </a:xfrm>
          <a:prstGeom prst="round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850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685032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/api/work-requests/{id}/status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85032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Update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33672"/>
            <a:ext cx="10744200" cy="521207"/>
          </a:xfrm>
          <a:prstGeom prst="roundRect">
            <a:avLst/>
          </a:prstGeom>
          <a:solidFill>
            <a:srgbClr val="FAFC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4325112"/>
            <a:ext cx="91440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343400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/api/work-requests/{id}/notes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343400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List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92040"/>
            <a:ext cx="1074420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4983479"/>
            <a:ext cx="91440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001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01768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Cascadia Code"/>
              </a:defRPr>
            </a:pPr>
            <a:r>
              <a:t>/api/work-requests/{id}/notes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001768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4344B"/>
                </a:solidFill>
                <a:latin typeface="Aptos"/>
              </a:defRPr>
            </a:pPr>
            <a:r>
              <a:t>Add a 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738B"/>
                </a:solidFill>
                <a:latin typeface="Aptos"/>
              </a:defRPr>
            </a:pPr>
            <a:r>
              <a:t>Use Swagger or an API client to verify route names and response codes. Routes can differ based on controller attributes.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1F39"/>
                </a:solidFill>
                <a:latin typeface="Aptos"/>
              </a:defRPr>
            </a:pPr>
            <a:r>
              <a:t>07  |  Push future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738B"/>
                </a:solidFill>
                <a:latin typeface="Aptos"/>
              </a:defRPr>
            </a:pPr>
            <a:r>
              <a:t>Use these commands from the correct local repository 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60120" cy="54864"/>
          </a:xfrm>
          <a:prstGeom prst="rect">
            <a:avLst/>
          </a:prstGeom>
          <a:solidFill>
            <a:srgbClr val="247BFF"/>
          </a:solidFill>
          <a:ln>
            <a:solidFill>
              <a:srgbClr val="24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6373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E1F39"/>
                </a:solidFill>
                <a:latin typeface="Aptos"/>
              </a:defRPr>
            </a:pPr>
            <a:r>
              <a:t>For either repository after its remote is configured: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029200" cy="1920240"/>
          </a:xfrm>
          <a:prstGeom prst="roundRect">
            <a:avLst/>
          </a:prstGeom>
          <a:solidFill>
            <a:srgbClr val="0E1F39"/>
          </a:solidFill>
          <a:ln>
            <a:solidFill>
              <a:srgbClr val="0E1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67128"/>
            <a:ext cx="4700016" cy="1700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2EEFC"/>
                </a:solidFill>
                <a:latin typeface="Cascadia Code"/>
              </a:defRPr>
            </a:pPr>
            <a:r>
              <a:t>git status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2EEFC"/>
                </a:solidFill>
                <a:latin typeface="Cascadia Code"/>
              </a:defRPr>
            </a:pPr>
            <a:r>
              <a:t>git add 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2EEFC"/>
                </a:solidFill>
                <a:latin typeface="Cascadia Code"/>
              </a:defRPr>
            </a:pPr>
            <a:r>
              <a:t>git commit -m "Describe your changes"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E2EEFC"/>
                </a:solidFill>
                <a:latin typeface="Cascadia Code"/>
              </a:defRPr>
            </a:pPr>
            <a:r>
              <a:t>git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4572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73952" y="222199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23113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21992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1F39"/>
                </a:solidFill>
                <a:latin typeface="Aptos"/>
              </a:defRPr>
            </a:pPr>
            <a:r>
              <a:t>Before pushing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834640"/>
            <a:ext cx="4169663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• Check git status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• Keep .vs/, bin/, obj/ out of Git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• Never commit secrets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• Review staged files before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5156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If Git says “remote origin already exists”, run git remote -v and verify the URL instead of adding origin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49240"/>
            <a:ext cx="10515600" cy="594360"/>
          </a:xfrm>
          <a:prstGeom prst="roundRect">
            <a:avLst/>
          </a:prstGeom>
          <a:solidFill>
            <a:srgbClr val="E4F0FF"/>
          </a:solidFill>
          <a:ln>
            <a:solidFill>
              <a:srgbClr val="E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468112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E1F39"/>
                </a:solidFill>
                <a:latin typeface="Aptos"/>
              </a:defRPr>
            </a:pPr>
            <a:r>
              <a:t>The repositories contain source code. For other people to run the app, they also need a reachable API and database configuration.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FlexGCC Work Request Tracker  •  Project handover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3657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373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08  |  Troubleshooting &amp; contact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05840" cy="54864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858000" cy="612648"/>
          </a:xfrm>
          <a:prstGeom prst="roundRect">
            <a:avLst/>
          </a:prstGeom>
          <a:solidFill>
            <a:srgbClr val="173052"/>
          </a:solidFill>
          <a:ln>
            <a:solidFill>
              <a:srgbClr val="17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8BDF8"/>
                </a:solidFill>
                <a:latin typeface="Aptos"/>
              </a:defRPr>
            </a:pPr>
            <a:r>
              <a:t>API does not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627632"/>
            <a:ext cx="4114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Check that the .NET API is running and the frontend base URL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40864"/>
            <a:ext cx="6858000" cy="612648"/>
          </a:xfrm>
          <a:prstGeom prst="roundRect">
            <a:avLst/>
          </a:prstGeom>
          <a:solidFill>
            <a:srgbClr val="173052"/>
          </a:solidFill>
          <a:ln>
            <a:solidFill>
              <a:srgbClr val="17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14016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8BDF8"/>
                </a:solidFill>
                <a:latin typeface="Aptos"/>
              </a:defRPr>
            </a:pPr>
            <a:r>
              <a:t>Failed to 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14016"/>
            <a:ext cx="4114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Check API URL, CORS policy, and whether the backend is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6858000" cy="612648"/>
          </a:xfrm>
          <a:prstGeom prst="roundRect">
            <a:avLst/>
          </a:prstGeom>
          <a:solidFill>
            <a:srgbClr val="173052"/>
          </a:solidFill>
          <a:ln>
            <a:solidFill>
              <a:srgbClr val="17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8BDF8"/>
                </a:solidFill>
                <a:latin typeface="Aptos"/>
              </a:defRPr>
            </a:pPr>
            <a:r>
              <a:t>SQL login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200400"/>
            <a:ext cx="4114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Check SQL Server instance, database name, authentication mode, and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13632"/>
            <a:ext cx="6858000" cy="612648"/>
          </a:xfrm>
          <a:prstGeom prst="roundRect">
            <a:avLst/>
          </a:prstGeom>
          <a:solidFill>
            <a:srgbClr val="173052"/>
          </a:solidFill>
          <a:ln>
            <a:solidFill>
              <a:srgbClr val="17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986784"/>
            <a:ext cx="2240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8BDF8"/>
                </a:solidFill>
                <a:latin typeface="Aptos"/>
              </a:defRPr>
            </a:pPr>
            <a:r>
              <a:t>Git permission error in .vs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986784"/>
            <a:ext cx="4114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Add .vs/, bin/, and obj/ to .gitignore, then retry git add.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47BFF"/>
                </a:solidFill>
                <a:latin typeface="Aptos"/>
              </a:defRPr>
            </a:pPr>
            <a:r>
              <a:rPr dirty="0"/>
              <a:t>NEED HELP?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3738B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71800"/>
            <a:ext cx="28346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E1F39"/>
                </a:solidFill>
                <a:latin typeface="Aptos"/>
              </a:defRPr>
            </a:pPr>
            <a:r>
              <a:t>7674960929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657600"/>
            <a:ext cx="27432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Frontend + Backend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4344B"/>
                </a:solidFill>
                <a:latin typeface="Aptos"/>
              </a:defRPr>
            </a:pPr>
            <a:r>
              <a:t>Repository setup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45720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36208"/>
            <a:ext cx="5943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4C7E0"/>
                </a:solidFill>
                <a:latin typeface="Aptos"/>
              </a:defRPr>
            </a:pPr>
            <a:r>
              <a:t>FlexGCC Work Request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7E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441" y="2365993"/>
            <a:ext cx="2166152" cy="6058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3738B"/>
                </a:solidFill>
                <a:latin typeface="Aptos"/>
              </a:defRPr>
            </a:pPr>
            <a:endParaRPr lang="en-US" dirty="0" smtClean="0"/>
          </a:p>
          <a:p>
            <a:pPr algn="ctr">
              <a:spcAft>
                <a:spcPts val="500"/>
              </a:spcAft>
              <a:defRPr sz="1400" b="0">
                <a:solidFill>
                  <a:srgbClr val="63738B"/>
                </a:solidFill>
                <a:latin typeface="Aptos"/>
              </a:defRPr>
            </a:pPr>
            <a:r>
              <a:rPr lang="en-US" b="1" dirty="0" err="1" smtClean="0">
                <a:solidFill>
                  <a:srgbClr val="FF0000"/>
                </a:solidFill>
              </a:rPr>
              <a:t>Durga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Manikanta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823</Words>
  <Application>Microsoft Office PowerPoint</Application>
  <PresentationFormat>Widescreen</PresentationFormat>
  <Paragraphs>170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ICFAI</cp:lastModifiedBy>
  <cp:revision>2</cp:revision>
  <dcterms:created xsi:type="dcterms:W3CDTF">2013-01-27T09:14:16Z</dcterms:created>
  <dcterms:modified xsi:type="dcterms:W3CDTF">2026-10-13T05:29:55Z</dcterms:modified>
  <cp:category/>
</cp:coreProperties>
</file>